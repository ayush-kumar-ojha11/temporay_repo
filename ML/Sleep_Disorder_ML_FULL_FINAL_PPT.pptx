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9"/>
  </p:notesMasterIdLst>
  <p:sldIdLst>
    <p:sldId id="256" r:id="rId3"/>
    <p:sldId id="262" r:id="rId4"/>
    <p:sldId id="273" r:id="rId5"/>
    <p:sldId id="277" r:id="rId6"/>
    <p:sldId id="278" r:id="rId7"/>
    <p:sldId id="274" r:id="rId8"/>
    <p:sldId id="257" r:id="rId9"/>
    <p:sldId id="258" r:id="rId10"/>
    <p:sldId id="259" r:id="rId11"/>
    <p:sldId id="261" r:id="rId12"/>
    <p:sldId id="260" r:id="rId13"/>
    <p:sldId id="263" r:id="rId14"/>
    <p:sldId id="275" r:id="rId15"/>
    <p:sldId id="264" r:id="rId16"/>
    <p:sldId id="282" r:id="rId17"/>
    <p:sldId id="265" r:id="rId18"/>
    <p:sldId id="276" r:id="rId19"/>
    <p:sldId id="266" r:id="rId20"/>
    <p:sldId id="279" r:id="rId21"/>
    <p:sldId id="280" r:id="rId22"/>
    <p:sldId id="281" r:id="rId23"/>
    <p:sldId id="267" r:id="rId24"/>
    <p:sldId id="268" r:id="rId25"/>
    <p:sldId id="272" r:id="rId26"/>
    <p:sldId id="269" r:id="rId27"/>
    <p:sldId id="271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D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63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3C8B-28D8-E014-2532-C28C478F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124C2-0A7D-CECF-CE5E-C52783A9D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E0A2F-62C4-0264-B71D-571CFAC83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82E69-19E4-ACB7-FB6D-C4C38883E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E8EC-88FB-C33B-7EE5-5B63B19B6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9D67B-A612-F0E8-97EB-8792B9DA5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C40F0-7C42-CE45-EEC5-7067DE7E7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115F7-589C-8ED6-3548-F97F2AE22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67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46536-E21D-7468-6ACE-F3E7FC3B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94BBF-364D-8466-278C-8EAED2993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140C4-0917-E3CA-D5E0-2562DD003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DDAF3-2D97-CB7B-65E6-0CC6CE785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61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AE6D9-0B61-0238-6C88-CA709D3D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DDBF8-B42B-04D4-2F91-33B453E16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BEDA5-7550-13CE-2F01-BAF1BD087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476E7-72F4-C655-3A6D-F4F46D7F8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53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4167A-EA7C-7958-2FC8-1459B9C1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67FEC-E1FD-153C-FB6F-29AF3B482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9D3A2-3D07-4221-D395-C86A3C024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5BCC3-A34C-1EA1-13AB-230A16F71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86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376C-1AC6-C50C-DAF9-F8C8712C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8F07A-97E8-EBFA-9274-A647C0790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3391C-E464-66CD-42ED-DCC125152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6EB1E-B078-17D1-9CF8-77992BF7A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03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98029-6AAD-65D2-1891-6F889D50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AC592-1370-2475-D8EA-0E36F6E7D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5C660-6607-7292-7061-F556B7322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AF94B-D2F8-B802-F6C0-81F1B0970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44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B5FC-D2B8-4261-2E72-F20BA8A6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E68E6-0AD0-FBED-B63D-D1929B86B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2719E-295A-DC6B-AD89-DFB148743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F2AC9-A2CF-CE69-F720-50AC689B12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59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D2863-1DB1-492B-CA82-3776AB84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7EDFE-AB0C-E976-2538-DF37858C7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9E26E-D07A-B092-3795-32D124638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219AB-D227-46F8-48FD-2AC995C18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72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F0B9-B6A7-C9F8-D8EB-1D1C294F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1E48F-9439-2246-F9F2-D4DA7B96B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018E0-4AFE-9CBD-4CFF-9E2715E6F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44A03-0189-B0AF-C24A-6F5C260B26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69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A23D9C0F-991D-86ED-EAA8-D9319C525BD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A4BA3ACD-BEF2-3E14-A923-33DB14861B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459ABF48-4BC4-3196-867F-669AFB9B538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D127E8-65D8-42BE-957A-18579BBEBA6B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88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91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57150"/>
            <a:ext cx="3200400" cy="320040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605790"/>
            <a:ext cx="2011680" cy="2011680"/>
          </a:xfrm>
          <a:prstGeom prst="ellipse">
            <a:avLst/>
          </a:prstGeom>
          <a:solidFill>
            <a:srgbClr val="2A9D8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3657600" cy="571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8DADC"/>
                </a:solidFill>
              </a:rPr>
              <a:t>MACHINE LEARNING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chemeClr val="bg1"/>
                </a:solidFill>
              </a:rPr>
              <a:t>Sleep Sense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DADC"/>
                </a:solidFill>
              </a:rPr>
              <a:t>Because Your Sleep Has a Story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A8DADC"/>
                </a:solidFill>
              </a:rPr>
              <a:t>Team: </a:t>
            </a:r>
            <a:r>
              <a:rPr lang="en-US" alt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B2 - 2</a:t>
            </a:r>
            <a:r>
              <a:rPr lang="en-US" sz="1300" b="1" dirty="0">
                <a:solidFill>
                  <a:srgbClr val="A8DADC"/>
                </a:solidFill>
              </a:rPr>
              <a:t>  </a:t>
            </a:r>
            <a:r>
              <a:rPr lang="en-US" sz="1300" dirty="0">
                <a:solidFill>
                  <a:srgbClr val="64748B"/>
                </a:solidFill>
              </a:rPr>
              <a:t>|  </a:t>
            </a:r>
            <a:r>
              <a:rPr lang="en-US" sz="1300" b="1" dirty="0">
                <a:solidFill>
                  <a:srgbClr val="A8DADC"/>
                </a:solidFill>
              </a:rPr>
              <a:t>Department:  </a:t>
            </a:r>
            <a:r>
              <a:rPr lang="en-US" sz="1300" dirty="0">
                <a:solidFill>
                  <a:srgbClr val="FFFFFF"/>
                </a:solidFill>
              </a:rPr>
              <a:t>Computer Science &amp; Engineering  </a:t>
            </a:r>
            <a:r>
              <a:rPr lang="en-US" sz="1300" dirty="0">
                <a:solidFill>
                  <a:srgbClr val="64748B"/>
                </a:solidFill>
              </a:rPr>
              <a:t>  |  </a:t>
            </a:r>
            <a:r>
              <a:rPr lang="en-US" sz="1300" b="1" dirty="0">
                <a:solidFill>
                  <a:srgbClr val="A8DADC"/>
                </a:solidFill>
              </a:rPr>
              <a:t>Date:  </a:t>
            </a:r>
            <a:r>
              <a:rPr lang="en-US" sz="1300" dirty="0">
                <a:solidFill>
                  <a:srgbClr val="FFFFFF"/>
                </a:solidFill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01  Introduction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02  Problem Statement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03  Dataset Description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04  Feature Description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05  Data Pre-processing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06  Data Analysis and Visualizations</a:t>
            </a:r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07  Feature Selection &amp; Engineering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08  Model Building</a:t>
            </a:r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09  Performance Evaluation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l"/>
            <a:r>
              <a:rPr lang="en-US" sz="1400" b="1" dirty="0">
                <a:solidFill>
                  <a:srgbClr val="2A9D8F"/>
                </a:solidFill>
              </a:rPr>
              <a:t>10   Key Findings</a:t>
            </a:r>
          </a:p>
          <a:p>
            <a:pPr marL="342900" indent="-342900">
              <a:buAutoNum type="arabicPlain" startAt="11"/>
            </a:pPr>
            <a:r>
              <a:rPr lang="en-US" sz="1400" b="1" dirty="0">
                <a:solidFill>
                  <a:srgbClr val="2A9D8F"/>
                </a:solidFill>
              </a:rPr>
              <a:t>Conclusion</a:t>
            </a:r>
          </a:p>
          <a:p>
            <a:pPr marL="342900" indent="-342900">
              <a:buAutoNum type="arabicPlain" startAt="11"/>
            </a:pPr>
            <a:r>
              <a:rPr lang="en-US" sz="1400" b="1" dirty="0">
                <a:solidFill>
                  <a:srgbClr val="2A9D8F"/>
                </a:solidFill>
              </a:rPr>
              <a:t>Reference</a:t>
            </a:r>
          </a:p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5ED3F-CEC3-AD2D-01E7-410365B7C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68A66C-DBB8-D588-BFB9-CEC0F0650B68}"/>
              </a:ext>
            </a:extLst>
          </p:cNvPr>
          <p:cNvSpPr/>
          <p:nvPr/>
        </p:nvSpPr>
        <p:spPr>
          <a:xfrm>
            <a:off x="1135937" y="996176"/>
            <a:ext cx="6695935" cy="3858322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757F08B-1687-638E-5A9B-EAA19447FE5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E695BD-1D28-E418-A95D-21B493D82226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</a:rPr>
              <a:t>Domain Understanding 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88A3E1-1347-FFF7-E94B-809B185321BD}"/>
              </a:ext>
            </a:extLst>
          </p:cNvPr>
          <p:cNvSpPr/>
          <p:nvPr/>
        </p:nvSpPr>
        <p:spPr>
          <a:xfrm>
            <a:off x="548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33AA7F2-EE4E-62D8-0F77-014C668BDF2F}"/>
              </a:ext>
            </a:extLst>
          </p:cNvPr>
          <p:cNvSpPr/>
          <p:nvPr/>
        </p:nvSpPr>
        <p:spPr>
          <a:xfrm>
            <a:off x="5120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6FBC2-53EB-CEC4-E2CE-69BB8A3A45B9}"/>
              </a:ext>
            </a:extLst>
          </p:cNvPr>
          <p:cNvSpPr txBox="1"/>
          <p:nvPr/>
        </p:nvSpPr>
        <p:spPr>
          <a:xfrm>
            <a:off x="1312126" y="1162771"/>
            <a:ext cx="651974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Core Domain: Digital Health &amp; Informatics</a:t>
            </a:r>
            <a:r>
              <a:rPr lang="en-IN" sz="1400" dirty="0"/>
              <a:t> Applying machine learning to link daily habits (sleep, screen time) with stress management and preventive health.</a:t>
            </a:r>
          </a:p>
          <a:p>
            <a:pPr>
              <a:buNone/>
            </a:pPr>
            <a:r>
              <a:rPr lang="en-IN" sz="1400" b="1" dirty="0"/>
              <a:t>Responsible AI in "Sleep Sense":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Accuracy:</a:t>
            </a:r>
            <a:r>
              <a:rPr lang="en-IN" sz="1400" dirty="0"/>
              <a:t> Delivering highly reliable stress predictions (RMSE: 0.335).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Explainability:</a:t>
            </a:r>
            <a:r>
              <a:rPr lang="en-IN" sz="1400" dirty="0"/>
              <a:t> Showing </a:t>
            </a:r>
            <a:r>
              <a:rPr lang="en-IN" sz="1400" i="1" dirty="0"/>
              <a:t>why</a:t>
            </a:r>
            <a:r>
              <a:rPr lang="en-IN" sz="1400" dirty="0"/>
              <a:t> predictions happen (identifying sleep and screen time as top stress drivers).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Fairness:</a:t>
            </a:r>
            <a:r>
              <a:rPr lang="en-IN" sz="1400" dirty="0"/>
              <a:t> Ensuring unbiased results across all ages, genders, and 8 different occupations.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Privacy &amp; Security:</a:t>
            </a:r>
            <a:r>
              <a:rPr lang="en-IN" sz="1400" dirty="0"/>
              <a:t> Fully anonymizing 15,000 records (e.g., removing user IDs) and safely handling sensitive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Transparency:</a:t>
            </a:r>
            <a:r>
              <a:rPr lang="en-IN" sz="1400" dirty="0"/>
              <a:t> Being upfront with users about how their habits calculate their stress 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Human-Controlled:</a:t>
            </a:r>
            <a:r>
              <a:rPr lang="en-IN" sz="1400" dirty="0"/>
              <a:t> Serving as a wellness guide, not a medical diagnosis. The user retains control of their health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Accountability:</a:t>
            </a:r>
            <a:r>
              <a:rPr lang="en-IN" sz="1400" dirty="0"/>
              <a:t> Validating our machine learning findings against established medical guidelines (e.g., the harmful effects of &lt;5 hours of sleep).</a:t>
            </a:r>
          </a:p>
        </p:txBody>
      </p:sp>
    </p:spTree>
    <p:extLst>
      <p:ext uri="{BB962C8B-B14F-4D97-AF65-F5344CB8AC3E}">
        <p14:creationId xmlns:p14="http://schemas.microsoft.com/office/powerpoint/2010/main" val="2018634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8DE0-3559-3F19-2423-3636E640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0A95CF-F93B-E6B8-F9DC-4F94962EEBC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3AD168-B518-4AE9-82DC-621BB7AC10DC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Domain Understanding 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C62FB3-E140-B67E-A05A-AA92268FA8A3}"/>
              </a:ext>
            </a:extLst>
          </p:cNvPr>
          <p:cNvSpPr/>
          <p:nvPr/>
        </p:nvSpPr>
        <p:spPr>
          <a:xfrm>
            <a:off x="548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70C9C4-4C55-24DA-D3CB-2A9DAB10F3FD}"/>
              </a:ext>
            </a:extLst>
          </p:cNvPr>
          <p:cNvSpPr/>
          <p:nvPr/>
        </p:nvSpPr>
        <p:spPr>
          <a:xfrm>
            <a:off x="5120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50DB2-B562-DEE9-7F96-BAF1B23CC469}"/>
              </a:ext>
            </a:extLst>
          </p:cNvPr>
          <p:cNvSpPr txBox="1"/>
          <p:nvPr/>
        </p:nvSpPr>
        <p:spPr>
          <a:xfrm>
            <a:off x="2282483" y="2382688"/>
            <a:ext cx="457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0DDC65-5179-D358-583E-11A77EEAD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841" y="956147"/>
            <a:ext cx="6904318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6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4D7B8-1A85-36A4-EFD0-F20675E0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4F156A-9CD0-F486-5D5C-BC002490B37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F8DF60-CE45-48DD-49B0-CFD879EC1755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Motivation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C8425F-2100-5470-B5D6-5539FEEF93A0}"/>
              </a:ext>
            </a:extLst>
          </p:cNvPr>
          <p:cNvSpPr/>
          <p:nvPr/>
        </p:nvSpPr>
        <p:spPr>
          <a:xfrm>
            <a:off x="548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B37D04-E3D3-A29C-F527-C5F14F5B75CE}"/>
              </a:ext>
            </a:extLst>
          </p:cNvPr>
          <p:cNvSpPr/>
          <p:nvPr/>
        </p:nvSpPr>
        <p:spPr>
          <a:xfrm>
            <a:off x="5120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5506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7DDB0-C21A-AABD-BF2D-78307176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E5978C97-86CD-1B4F-8D33-A1ADF980F199}"/>
              </a:ext>
            </a:extLst>
          </p:cNvPr>
          <p:cNvSpPr/>
          <p:nvPr/>
        </p:nvSpPr>
        <p:spPr>
          <a:xfrm>
            <a:off x="746291" y="1051560"/>
            <a:ext cx="7385773" cy="3959352"/>
          </a:xfrm>
          <a:prstGeom prst="rect">
            <a:avLst/>
          </a:prstGeom>
          <a:solidFill>
            <a:srgbClr val="2A9D8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F9BDCF7-DBF6-0F0A-EBBF-62CCAB1AB2F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94136E-06BD-4187-E624-C31029C4F3FD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Motivation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5243B0-C7A8-E483-2D91-971F43782E0F}"/>
              </a:ext>
            </a:extLst>
          </p:cNvPr>
          <p:cNvSpPr/>
          <p:nvPr/>
        </p:nvSpPr>
        <p:spPr>
          <a:xfrm>
            <a:off x="548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1804BE-6B24-9784-6A90-B64E8997251F}"/>
              </a:ext>
            </a:extLst>
          </p:cNvPr>
          <p:cNvSpPr/>
          <p:nvPr/>
        </p:nvSpPr>
        <p:spPr>
          <a:xfrm>
            <a:off x="5120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36105-376D-C7DF-2F30-04C99E39E45C}"/>
              </a:ext>
            </a:extLst>
          </p:cNvPr>
          <p:cNvSpPr txBox="1"/>
          <p:nvPr/>
        </p:nvSpPr>
        <p:spPr>
          <a:xfrm>
            <a:off x="856019" y="1175203"/>
            <a:ext cx="658719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The Core Link: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Sleep is directly tied to your body's ability to recover and has a significant impact on daily stress levels.</a:t>
            </a: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Medical Guidelines for Mental Health:</a:t>
            </a:r>
            <a:endParaRPr lang="en-IN" dirty="0">
              <a:solidFill>
                <a:schemeClr val="bg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8 Hours: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More than enough for most individuals.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7 Hours: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The perfect optimal duration.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6 Hours: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Leaves you feeling lousy and unrefreshed.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5 Hours: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Leads to struggling and sleeping through the 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4 Hours or Less: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The body is completely unable to recover.</a:t>
            </a: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The Modern Lifestyle Crisis:</a:t>
            </a:r>
            <a:endParaRPr lang="en-IN" dirty="0">
              <a:solidFill>
                <a:schemeClr val="bg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j-lt"/>
              </a:rPr>
              <a:t>Today's students and working professionals are often forced into situations where they only get 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3 to 4 hours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of sleep.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j-lt"/>
              </a:rPr>
              <a:t>In extreme cases, many entirely skip sleep or get 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less than 2 hours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, leading to severe and lasting damage to the body.</a:t>
            </a:r>
          </a:p>
        </p:txBody>
      </p:sp>
    </p:spTree>
    <p:extLst>
      <p:ext uri="{BB962C8B-B14F-4D97-AF65-F5344CB8AC3E}">
        <p14:creationId xmlns:p14="http://schemas.microsoft.com/office/powerpoint/2010/main" val="3516441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9D8F"/>
                </a:solidFill>
              </a:rPr>
              <a:t>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Excessive mobile screen time is increasingly linked to rising stress levels, disrupted sleep patterns, and reduced mental well-being across all age groups.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This project applies regression-based machine learning — Linear Regression and Decision Tree Regressor — to predict a person's stress level score from their mobile usage and lifestyle habits.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The dataset contains 15,000 records with features such as screen time, sleep duration, caffeine intake, physical activity, and notifications received daily.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9D8F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Mobile screen time has surged — average usage exceeds 6–7 hours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High screen exposure disrupts sleep and elevates cortisol (stress hormone)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ML models can quantify stress risk from daily habits — no clinical tests needed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Comparing Linear Regression vs Decision Tree helps understand linear vs non-linear stress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Findings can guide healthier digital habits and workplace wellness programs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417320"/>
          </a:xfrm>
          <a:prstGeom prst="rect">
            <a:avLst/>
          </a:prstGeom>
          <a:solidFill>
            <a:srgbClr val="2A9D8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155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FFFFFF"/>
                </a:solidFill>
              </a:rPr>
              <a:t>Given a person's mobile usage and lifestyle data, predict their stress level score (1–10) using Linear Regression and Decision Tree Regressor and XG Boost models.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633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017520"/>
            <a:ext cx="2011680" cy="4114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Analyze key factors influencing stress level from mobile &amp; lifestyle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30175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3017520"/>
            <a:ext cx="2011680" cy="4114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474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Build a Linear Regression model as the baseline predictor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2011680" cy="4114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Build a Decision Tree Regressor and compare against baseline</a:t>
            </a:r>
            <a:br>
              <a:rPr lang="en-US" sz="1200" dirty="0">
                <a:solidFill>
                  <a:srgbClr val="1E293B"/>
                </a:solidFill>
              </a:rPr>
            </a:br>
            <a:r>
              <a:rPr lang="en-US" sz="1200" dirty="0">
                <a:solidFill>
                  <a:srgbClr val="1E293B"/>
                </a:solidFill>
              </a:rPr>
              <a:t>use K fold for validation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And then use XG Boost as stack(last model 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30175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3017520"/>
            <a:ext cx="2011680" cy="4114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474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Evaluate models using RMSE and R² — identify top predictive features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9144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DADC"/>
                </a:solidFill>
              </a:rPr>
              <a:t>15,000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2011680" cy="9144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241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DADC"/>
                </a:solidFill>
              </a:rPr>
              <a:t>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9144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241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DADC"/>
                </a:solidFill>
              </a:rPr>
              <a:t>Regression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Target (1-10)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2011680" cy="9144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241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DADC"/>
                </a:solidFill>
              </a:rPr>
              <a:t>Structured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Data Type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Features in the Dataset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Age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Gender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Occupation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Daily Screen Time (hrs)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Phone Usage Before Sleep (min)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Sleep Duration (hrs)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Caffeine Intake (cups)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Physical Activity (min)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Notifications Per Day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Sleep Quality Score</a:t>
            </a: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28090"/>
                </a:solidFill>
              </a:rPr>
              <a:t>Stress Level (Target, 1-10)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Sample Data Snapshot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575185"/>
              </p:ext>
            </p:extLst>
          </p:nvPr>
        </p:nvGraphicFramePr>
        <p:xfrm>
          <a:off x="4572000" y="2423160"/>
          <a:ext cx="3566160" cy="24688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Screen(hrs)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Sleep(hrs)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Caffeine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3.26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5.31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3.49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1.85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7.36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3.01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3.04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5.03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6.68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10.0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3.52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7.57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6.71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96948" y="481818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Dataset: Mobile Usage &amp; Sleep Stress | 15,000 records | Target: Stress Level (1–10)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Feature Description</a:t>
            </a:r>
          </a:p>
        </p:txBody>
      </p:sp>
      <p:sp>
        <p:nvSpPr>
          <p:cNvPr id="4" name="Text Sub"/>
          <p:cNvSpPr/>
          <p:nvPr/>
        </p:nvSpPr>
        <p:spPr>
          <a:xfrm>
            <a:off x="457200" y="940000"/>
            <a:ext cx="82296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10 features used after dropping user_id (not relevant to prediction)</a:t>
            </a:r>
          </a:p>
        </p:txBody>
      </p:sp>
      <p:sp>
        <p:nvSpPr>
          <p:cNvPr id="10" name="Card L"/>
          <p:cNvSpPr/>
          <p:nvPr/>
        </p:nvSpPr>
        <p:spPr>
          <a:xfrm>
            <a:off x="274320" y="1260000"/>
            <a:ext cx="4206240" cy="3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>
            <a:outerShdw blurRad="76200" dist="25400" dir="5400000" rotWithShape="0">
              <a:srgbClr val="000000">
                <a:alpha val="8000"/>
              </a:srgbClr>
            </a:outerShdw>
          </a:effectLst>
        </p:spPr>
      </p:sp>
      <p:sp>
        <p:nvSpPr>
          <p:cNvPr id="11" name="AccL"/>
          <p:cNvSpPr/>
          <p:nvPr/>
        </p:nvSpPr>
        <p:spPr>
          <a:xfrm>
            <a:off x="274320" y="1260000"/>
            <a:ext cx="4206240" cy="1000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L"/>
          <p:cNvSpPr/>
          <p:nvPr/>
        </p:nvSpPr>
        <p:spPr>
          <a:xfrm>
            <a:off x="320040" y="1380000"/>
            <a:ext cx="4114800" cy="3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Age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Age of the individual in years (e.g., 25, 38, 56).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Gender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Biological sex of the participant (Male / Female), label-encoded.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Occupation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Job category of the person (e.g., Student, Engineer, Teacher), label-encoded (8 classes).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Daily Screen Time (hrs)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Total hours of mobile phone use per day (e.g., 3.26, 9.00).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Phone Usage Before Sleep (min)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Minutes of phone screen use in the last hour before sleeping.</a:t>
            </a:r>
          </a:p>
        </p:txBody>
      </p:sp>
      <p:sp>
        <p:nvSpPr>
          <p:cNvPr id="20" name="Card R"/>
          <p:cNvSpPr/>
          <p:nvPr/>
        </p:nvSpPr>
        <p:spPr>
          <a:xfrm>
            <a:off x="4663440" y="1260000"/>
            <a:ext cx="4206240" cy="3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>
            <a:outerShdw blurRad="76200" dist="25400" dir="5400000" rotWithShape="0">
              <a:srgbClr val="000000">
                <a:alpha val="8000"/>
              </a:srgbClr>
            </a:outerShdw>
          </a:effectLst>
        </p:spPr>
      </p:sp>
      <p:sp>
        <p:nvSpPr>
          <p:cNvPr id="21" name="AccR"/>
          <p:cNvSpPr/>
          <p:nvPr/>
        </p:nvSpPr>
        <p:spPr>
          <a:xfrm>
            <a:off x="4663440" y="1260000"/>
            <a:ext cx="4206240" cy="100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R"/>
          <p:cNvSpPr/>
          <p:nvPr/>
        </p:nvSpPr>
        <p:spPr>
          <a:xfrm>
            <a:off x="4709160" y="1380000"/>
            <a:ext cx="4114800" cy="3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Sleep Duration (hrs)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Average number of hours slept per night (e.g., 5.31, 7.36).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Caffeine Intake (cups)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Number of caffeinated drinks (tea/coffee) consumed daily (e.g., 0, 2, 4).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Physical Activity (min)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Minutes of exercise or physical activity performed per day.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Notifications Per Day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Total number of phone notifications received daily (interruptions to focus/sleep).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</a:rPr>
              <a:t>Stress Level — Target (1–10)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Self-reported stress score on a 1–10 scale. This is the prediction target for both models.</a:t>
            </a:r>
          </a:p>
        </p:txBody>
      </p:sp>
      <p:sp>
        <p:nvSpPr>
          <p:cNvPr id="30" name="Footer"/>
          <p:cNvSpPr/>
          <p:nvPr/>
        </p:nvSpPr>
        <p:spPr>
          <a:xfrm>
            <a:off x="365760" y="4980000"/>
            <a:ext cx="841248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Dataset: Mobile Usage &amp; Sleep Stress | 15,000 records | user_id dropped | Target: Stress Level (1–10)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alAccent"/>
          <p:cNvSpPr/>
          <p:nvPr/>
        </p:nvSpPr>
        <p:spPr>
          <a:xfrm>
            <a:off x="0" y="700000"/>
            <a:ext cx="9144000" cy="6000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4" name="TitleText"/>
          <p:cNvSpPr/>
          <p:nvPr/>
        </p:nvSpPr>
        <p:spPr>
          <a:xfrm>
            <a:off x="457200" y="0"/>
            <a:ext cx="82296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Pre-processing</a:t>
            </a:r>
          </a:p>
        </p:txBody>
      </p:sp>
      <p:sp>
        <p:nvSpPr>
          <p:cNvPr id="5" name="CatHeader"/>
          <p:cNvSpPr/>
          <p:nvPr/>
        </p:nvSpPr>
        <p:spPr>
          <a:xfrm>
            <a:off x="365760" y="850000"/>
            <a:ext cx="3900000" cy="4200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182880" indent="0" algn="l">
              <a:buNone/>
            </a:pPr>
            <a:r>
              <a:rPr lang="en-US" sz="1600" b="1" dirty="0">
                <a:solidFill>
                  <a:srgbClr val="A8DADC"/>
                </a:solidFill>
              </a:rPr>
              <a:t>Categorical Attributes</a:t>
            </a:r>
          </a:p>
        </p:txBody>
      </p:sp>
      <p:sp>
        <p:nvSpPr>
          <p:cNvPr id="6" name="CatContent"/>
          <p:cNvSpPr/>
          <p:nvPr/>
        </p:nvSpPr>
        <p:spPr>
          <a:xfrm>
            <a:off x="365760" y="1270000"/>
            <a:ext cx="3900000" cy="112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>
            <a:outerShdw blurRad="50800" dist="12700" dir="8100000" rotWithShape="0">
              <a:srgbClr val="000000">
                <a:alpha val="8000"/>
              </a:srgbClr>
            </a:outerShdw>
          </a:effectLst>
        </p:spPr>
        <p:txBody>
          <a:bodyPr wrap="square" lIns="182880" tIns="152400" rIns="182880" bIns="152400" rtlCol="0" anchor="t"/>
          <a:lstStyle/>
          <a:p>
            <a:pPr marL="228600" indent="-228600" algn="l">
              <a:buChar char="●"/>
            </a:pPr>
            <a:r>
              <a:rPr lang="en-US" sz="1200" b="1" dirty="0">
                <a:solidFill>
                  <a:srgbClr val="1A2E4A"/>
                </a:solidFill>
              </a:rPr>
              <a:t>gender</a:t>
            </a:r>
            <a:r>
              <a:rPr lang="en-US" sz="1200" dirty="0">
                <a:solidFill>
                  <a:srgbClr val="1E293B"/>
                </a:solidFill>
              </a:rPr>
              <a:t>: No missing values. Label encoded — Female=0, Male=1, Other=2</a:t>
            </a:r>
          </a:p>
          <a:p>
            <a:pPr marL="228600" indent="-22860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 </a:t>
            </a:r>
          </a:p>
          <a:p>
            <a:pPr marL="228600" indent="-228600" algn="l">
              <a:buChar char="●"/>
            </a:pPr>
            <a:r>
              <a:rPr lang="en-US" sz="1200" b="1" dirty="0">
                <a:solidFill>
                  <a:srgbClr val="1A2E4A"/>
                </a:solidFill>
              </a:rPr>
              <a:t>occupation</a:t>
            </a:r>
            <a:r>
              <a:rPr lang="en-US" sz="1200" dirty="0">
                <a:solidFill>
                  <a:srgbClr val="1E293B"/>
                </a:solidFill>
              </a:rPr>
              <a:t>: No missing values. Label encoded — 8 classes (Designer=0 ... Teacher=7)</a:t>
            </a:r>
          </a:p>
          <a:p>
            <a:pPr marL="228600" indent="-22860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 </a:t>
            </a:r>
          </a:p>
          <a:p>
            <a:pPr marL="228600" indent="-228600" algn="l">
              <a:buChar char="●"/>
            </a:pPr>
            <a:r>
              <a:rPr lang="en-US" sz="1200" dirty="0">
                <a:solidFill>
                  <a:srgbClr val="1E293B"/>
                </a:solidFill>
              </a:rPr>
              <a:t>Used </a:t>
            </a:r>
            <a:r>
              <a:rPr lang="en-US" sz="1200" b="1" dirty="0">
                <a:solidFill>
                  <a:srgbClr val="028090"/>
                </a:solidFill>
              </a:rPr>
              <a:t>LabelEncoder</a:t>
            </a:r>
            <a:r>
              <a:rPr lang="en-US" sz="1200" dirty="0">
                <a:solidFill>
                  <a:srgbClr val="1E293B"/>
                </a:solidFill>
              </a:rPr>
              <a:t> (not One-Hot — Random Forest handles ordinal encoding natively)</a:t>
            </a:r>
          </a:p>
        </p:txBody>
      </p:sp>
      <p:sp>
        <p:nvSpPr>
          <p:cNvPr id="7" name="NumHeader"/>
          <p:cNvSpPr/>
          <p:nvPr/>
        </p:nvSpPr>
        <p:spPr>
          <a:xfrm>
            <a:off x="365760" y="2476500"/>
            <a:ext cx="3900000" cy="4200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182880" indent="0" algn="l">
              <a:buNone/>
            </a:pPr>
            <a:r>
              <a:rPr lang="en-US" sz="1600" b="1" dirty="0">
                <a:solidFill>
                  <a:srgbClr val="A8DADC"/>
                </a:solidFill>
              </a:rPr>
              <a:t>Numerical Attributes</a:t>
            </a:r>
          </a:p>
        </p:txBody>
      </p:sp>
      <p:sp>
        <p:nvSpPr>
          <p:cNvPr id="8" name="NumContent"/>
          <p:cNvSpPr/>
          <p:nvPr/>
        </p:nvSpPr>
        <p:spPr>
          <a:xfrm>
            <a:off x="365760" y="2896500"/>
            <a:ext cx="3900000" cy="16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>
            <a:outerShdw blurRad="50800" dist="12700" dir="8100000" rotWithShape="0">
              <a:srgbClr val="000000">
                <a:alpha val="8000"/>
              </a:srgbClr>
            </a:outerShdw>
          </a:effectLst>
        </p:spPr>
        <p:txBody>
          <a:bodyPr wrap="square" lIns="182880" tIns="152400" rIns="182880" bIns="152400" rtlCol="0" anchor="t"/>
          <a:lstStyle/>
          <a:p>
            <a:pPr marL="228600" indent="-228600" algn="l">
              <a:buChar char="●"/>
            </a:pPr>
            <a:r>
              <a:rPr lang="en-US" sz="1200" dirty="0">
                <a:solidFill>
                  <a:srgbClr val="1E293B"/>
                </a:solidFill>
              </a:rPr>
              <a:t>All 9 numerical columns — no missing values (zero imputation needed)</a:t>
            </a:r>
          </a:p>
          <a:p>
            <a:pPr marL="228600" indent="-22860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 </a:t>
            </a:r>
          </a:p>
          <a:p>
            <a:pPr marL="228600" indent="-228600" algn="l">
              <a:buChar char="●"/>
            </a:pPr>
            <a:r>
              <a:rPr lang="en-US" sz="1200" dirty="0">
                <a:solidFill>
                  <a:srgbClr val="1E293B"/>
                </a:solidFill>
              </a:rPr>
              <a:t>Applied </a:t>
            </a:r>
            <a:r>
              <a:rPr lang="en-US" sz="1200" b="1" dirty="0">
                <a:solidFill>
                  <a:srgbClr val="028090"/>
                </a:solidFill>
              </a:rPr>
              <a:t>StandardScaler</a:t>
            </a:r>
            <a:r>
              <a:rPr lang="en-US" sz="1200" dirty="0">
                <a:solidFill>
                  <a:srgbClr val="1E293B"/>
                </a:solidFill>
              </a:rPr>
              <a:t> to normalise features (mean=0, std=1)</a:t>
            </a:r>
          </a:p>
          <a:p>
            <a:pPr marL="228600" indent="-22860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 </a:t>
            </a:r>
          </a:p>
          <a:p>
            <a:pPr marL="228600" indent="-228600" algn="l">
              <a:buChar char="●"/>
            </a:pPr>
            <a:r>
              <a:rPr lang="en-US" sz="1200" dirty="0">
                <a:solidFill>
                  <a:srgbClr val="1E293B"/>
                </a:solidFill>
              </a:rPr>
              <a:t>Scaler fit only on </a:t>
            </a:r>
            <a:r>
              <a:rPr lang="en-US" sz="1200" b="1" dirty="0">
                <a:solidFill>
                  <a:srgbClr val="028090"/>
                </a:solidFill>
              </a:rPr>
              <a:t>training data</a:t>
            </a:r>
            <a:r>
              <a:rPr lang="en-US" sz="1200" dirty="0">
                <a:solidFill>
                  <a:srgbClr val="1E293B"/>
                </a:solidFill>
              </a:rPr>
              <a:t> to prevent data leakage</a:t>
            </a:r>
          </a:p>
        </p:txBody>
      </p:sp>
      <p:sp>
        <p:nvSpPr>
          <p:cNvPr id="9" name="Note"/>
          <p:cNvSpPr/>
          <p:nvPr/>
        </p:nvSpPr>
        <p:spPr>
          <a:xfrm>
            <a:off x="365760" y="4600000"/>
            <a:ext cx="39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0392B"/>
                </a:solidFill>
              </a:rPr>
              <a:t>Note: user_id dropped — identifier, not a predictive feature</a:t>
            </a:r>
          </a:p>
        </p:txBody>
      </p:sp>
      <p:sp>
        <p:nvSpPr>
          <p:cNvPr id="10" name="Step1Box"/>
          <p:cNvSpPr/>
          <p:nvPr/>
        </p:nvSpPr>
        <p:spPr>
          <a:xfrm>
            <a:off x="4800000" y="840000"/>
            <a:ext cx="3978240" cy="4200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1. Dropped ‘user_id’ Column</a:t>
            </a:r>
          </a:p>
        </p:txBody>
      </p:sp>
      <p:sp>
        <p:nvSpPr>
          <p:cNvPr id="11" name="Arrow1"/>
          <p:cNvSpPr/>
          <p:nvPr/>
        </p:nvSpPr>
        <p:spPr>
          <a:xfrm>
            <a:off x="6700000" y="1260000"/>
            <a:ext cx="114300" cy="290000"/>
          </a:xfrm>
          <a:prstGeom prst="downArrow">
            <a:avLst/>
          </a:prstGeom>
          <a:solidFill>
            <a:srgbClr val="A8DADC"/>
          </a:solidFill>
          <a:ln/>
        </p:spPr>
      </p:sp>
      <p:sp>
        <p:nvSpPr>
          <p:cNvPr id="12" name="Step2Box"/>
          <p:cNvSpPr/>
          <p:nvPr/>
        </p:nvSpPr>
        <p:spPr>
          <a:xfrm>
            <a:off x="4800000" y="1550000"/>
            <a:ext cx="3978240" cy="4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>
            <a:outerShdw blurRad="50800" dist="12700" dir="8100000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2. No Missing Values </a:t>
            </a:r>
            <a:r>
              <a:rPr lang="en-US" sz="1300" dirty="0">
                <a:solidFill>
                  <a:srgbClr val="64748B"/>
                </a:solidFill>
              </a:rPr>
              <a:t>(15,000 rows complete)</a:t>
            </a:r>
          </a:p>
        </p:txBody>
      </p:sp>
      <p:sp>
        <p:nvSpPr>
          <p:cNvPr id="13" name="Arrow2"/>
          <p:cNvSpPr/>
          <p:nvPr/>
        </p:nvSpPr>
        <p:spPr>
          <a:xfrm>
            <a:off x="6700000" y="1970000"/>
            <a:ext cx="114300" cy="290000"/>
          </a:xfrm>
          <a:prstGeom prst="downArrow">
            <a:avLst/>
          </a:prstGeom>
          <a:solidFill>
            <a:srgbClr val="A8DADC"/>
          </a:solidFill>
          <a:ln/>
        </p:spPr>
      </p:sp>
      <p:sp>
        <p:nvSpPr>
          <p:cNvPr id="14" name="Step3Box"/>
          <p:cNvSpPr/>
          <p:nvPr/>
        </p:nvSpPr>
        <p:spPr>
          <a:xfrm>
            <a:off x="4800000" y="2260000"/>
            <a:ext cx="3978240" cy="4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>
            <a:outerShdw blurRad="50800" dist="12700" dir="8100000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3. No Duplicates </a:t>
            </a:r>
            <a:r>
              <a:rPr lang="en-US" sz="1300" dirty="0">
                <a:solidFill>
                  <a:srgbClr val="64748B"/>
                </a:solidFill>
              </a:rPr>
              <a:t>(dataset integrity confirmed)</a:t>
            </a:r>
          </a:p>
        </p:txBody>
      </p:sp>
      <p:sp>
        <p:nvSpPr>
          <p:cNvPr id="15" name="Arrow3"/>
          <p:cNvSpPr/>
          <p:nvPr/>
        </p:nvSpPr>
        <p:spPr>
          <a:xfrm>
            <a:off x="6700000" y="2680000"/>
            <a:ext cx="114300" cy="290000"/>
          </a:xfrm>
          <a:prstGeom prst="downArrow">
            <a:avLst/>
          </a:prstGeom>
          <a:solidFill>
            <a:srgbClr val="A8DADC"/>
          </a:solidFill>
          <a:ln/>
        </p:spPr>
      </p:sp>
      <p:sp>
        <p:nvSpPr>
          <p:cNvPr id="16" name="Step4Box"/>
          <p:cNvSpPr/>
          <p:nvPr/>
        </p:nvSpPr>
        <p:spPr>
          <a:xfrm>
            <a:off x="4800000" y="2970000"/>
            <a:ext cx="3978240" cy="4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>
            <a:outerShdw blurRad="50800" dist="12700" dir="8100000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4. Label Encoding </a:t>
            </a:r>
            <a:r>
              <a:rPr lang="en-US" sz="1300" dirty="0">
                <a:solidFill>
                  <a:srgbClr val="64748B"/>
                </a:solidFill>
              </a:rPr>
              <a:t>(gender &amp; occupation)</a:t>
            </a:r>
          </a:p>
        </p:txBody>
      </p:sp>
      <p:sp>
        <p:nvSpPr>
          <p:cNvPr id="17" name="Arrow4"/>
          <p:cNvSpPr/>
          <p:nvPr/>
        </p:nvSpPr>
        <p:spPr>
          <a:xfrm>
            <a:off x="6700000" y="3390000"/>
            <a:ext cx="114300" cy="290000"/>
          </a:xfrm>
          <a:prstGeom prst="downArrow">
            <a:avLst/>
          </a:prstGeom>
          <a:solidFill>
            <a:srgbClr val="A8DADC"/>
          </a:solidFill>
          <a:ln/>
        </p:spPr>
      </p:sp>
      <p:sp>
        <p:nvSpPr>
          <p:cNvPr id="18" name="Step5Box"/>
          <p:cNvSpPr/>
          <p:nvPr/>
        </p:nvSpPr>
        <p:spPr>
          <a:xfrm>
            <a:off x="4800000" y="3680000"/>
            <a:ext cx="3978240" cy="4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>
            <a:outerShdw blurRad="50800" dist="12700" dir="8100000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5. 60/40 Train-Test Split </a:t>
            </a:r>
            <a:r>
              <a:rPr lang="en-US" sz="1300" dirty="0">
                <a:solidFill>
                  <a:srgbClr val="64748B"/>
                </a:solidFill>
              </a:rPr>
              <a:t>(9,000 train / 6,000 test)</a:t>
            </a:r>
          </a:p>
        </p:txBody>
      </p:sp>
      <p:sp>
        <p:nvSpPr>
          <p:cNvPr id="19" name="Arrow5"/>
          <p:cNvSpPr/>
          <p:nvPr/>
        </p:nvSpPr>
        <p:spPr>
          <a:xfrm>
            <a:off x="6700000" y="4100000"/>
            <a:ext cx="114300" cy="290000"/>
          </a:xfrm>
          <a:prstGeom prst="downArrow">
            <a:avLst/>
          </a:prstGeom>
          <a:solidFill>
            <a:srgbClr val="A8DADC"/>
          </a:solidFill>
          <a:ln/>
        </p:spPr>
      </p:sp>
      <p:sp>
        <p:nvSpPr>
          <p:cNvPr id="20" name="DatasetBox"/>
          <p:cNvSpPr/>
          <p:nvPr/>
        </p:nvSpPr>
        <p:spPr>
          <a:xfrm>
            <a:off x="5200000" y="4390000"/>
            <a:ext cx="3178240" cy="42000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  <a:effectLst>
            <a:outerShdw blurRad="76200" dist="38100" dir="8100000" rotWithShape="0">
              <a:srgbClr val="02809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Clean Dataset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Analysis and Visualizations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Exploring patterns in mobile usage, sleep, and stress from 15,000 records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</a:rPr>
              <a:t>Q1: Screen Time vs Stress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Positive correlation: users with 8+ hrs/day screen time show stress levels 40% higher than low-usage users (&lt;3 hrs)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17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</a:rPr>
              <a:t>Q2: Sleep Duration vs Stress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Negative correlation: less sleep (&lt;5 hrs) strongly associated with stress scores above 7. Optimal sleep (7-8 hrs) correlates with stress below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71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</a:rPr>
              <a:t>Q3: Physical Activity vs Stress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Higher physical activity (60+ min/day) reduces average stress score by ~2 points. Sedentary users show higher stress variability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971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</a:rPr>
              <a:t>Q4: Notifications vs Stress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Users receiving 200+ notifications/day exhibit stress scores 1.5x higher on average vs those with under 100 daily notifications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4085-3FE8-CCFA-93F6-D7138745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8EBD17-959E-2946-849A-DB19FD5E7D4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BC4C58-8171-4B07-8674-A537D380EC31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Motivation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A1D9D4-30B4-48F0-1AE6-D9FBD12FCA92}"/>
              </a:ext>
            </a:extLst>
          </p:cNvPr>
          <p:cNvSpPr/>
          <p:nvPr/>
        </p:nvSpPr>
        <p:spPr>
          <a:xfrm>
            <a:off x="548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93D2E9-9676-FEA6-7E57-506724792AD7}"/>
              </a:ext>
            </a:extLst>
          </p:cNvPr>
          <p:cNvSpPr/>
          <p:nvPr/>
        </p:nvSpPr>
        <p:spPr>
          <a:xfrm>
            <a:off x="5120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CE2B84-C857-602D-1033-DAF2C77C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2" y="1143357"/>
            <a:ext cx="7188591" cy="385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63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Selection &amp;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</a:rPr>
              <a:t>Top Predictive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</a:rPr>
              <a:t>1. </a:t>
            </a:r>
            <a:r>
              <a:rPr lang="en-US" sz="1100" b="1" dirty="0">
                <a:solidFill>
                  <a:srgbClr val="1E293B"/>
                </a:solidFill>
              </a:rPr>
              <a:t>Sleep Duration (hrs)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Strongest negative predictor of stress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</a:rPr>
              <a:t>2. </a:t>
            </a:r>
            <a:r>
              <a:rPr lang="en-US" sz="1100" b="1" dirty="0">
                <a:solidFill>
                  <a:srgbClr val="1E293B"/>
                </a:solidFill>
              </a:rPr>
              <a:t>Daily Screen Time (hrs)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194560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Strong positive correlation with stress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</a:rPr>
              <a:t>3. </a:t>
            </a:r>
            <a:r>
              <a:rPr lang="en-US" sz="1100" b="1" dirty="0">
                <a:solidFill>
                  <a:srgbClr val="1E293B"/>
                </a:solidFill>
              </a:rPr>
              <a:t>Sleep Quality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852928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Highly correlated with stress outcome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</a:rPr>
              <a:t>4. </a:t>
            </a:r>
            <a:r>
              <a:rPr lang="en-US" sz="1100" b="1" dirty="0">
                <a:solidFill>
                  <a:srgbClr val="1E293B"/>
                </a:solidFill>
              </a:rPr>
              <a:t>Physical Activity (min)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511296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Moderate negative predictor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</a:rPr>
              <a:t>5. </a:t>
            </a:r>
            <a:r>
              <a:rPr lang="en-US" sz="1100" b="1" dirty="0">
                <a:solidFill>
                  <a:srgbClr val="1E293B"/>
                </a:solidFill>
              </a:rPr>
              <a:t>Notifications Per 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169664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Interruptions amplify stress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777240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</a:rPr>
              <a:t>Engineering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298448"/>
            <a:ext cx="3749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Dropped user_id (non-predictive identifier)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Label encoded: gender (3 classes) and occupation (8 classes)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StandardScaler applied to all 9 numerical features (fit on train only)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050" dirty="0"/>
              <a:t>50% Train, 30% Test, 20% Stratified K-Fold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All 10 features retained — no feature dropped (confirmed via correlation analysis)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Target: Stress Level (1–10 continuous) — regression task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C80E3-A164-097A-5583-25E77D20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1BE86C80-40B7-0780-03E9-F789182FF338}"/>
              </a:ext>
            </a:extLst>
          </p:cNvPr>
          <p:cNvSpPr/>
          <p:nvPr/>
        </p:nvSpPr>
        <p:spPr>
          <a:xfrm>
            <a:off x="148683" y="728546"/>
            <a:ext cx="8846634" cy="4304371"/>
          </a:xfrm>
          <a:prstGeom prst="round2DiagRect">
            <a:avLst/>
          </a:prstGeom>
          <a:solidFill>
            <a:schemeClr val="bg1"/>
          </a:solidFill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275978C-EEC3-3733-FBF9-2C96580DE3B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2A4C50-8426-A1BC-76E5-757DE468EC4F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Selection &amp; Engineering Heat map</a:t>
            </a:r>
            <a:endParaRPr lang="en-US" sz="2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ED0A21-10F8-48EC-F47B-BB5540E0F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87" y="862360"/>
            <a:ext cx="8014011" cy="410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0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Building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64592" cy="4206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777240"/>
            <a:ext cx="37673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8686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</a:rPr>
              <a:t>Linear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A9D8F"/>
                </a:solidFill>
              </a:rPr>
              <a:t>Baseline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Assumes linear relationship between features and target stress level</a:t>
            </a:r>
            <a:endParaRPr lang="en-US" sz="10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Trained using sklearn LinearRegression with StandardScaler preprocessing</a:t>
            </a:r>
            <a:endParaRPr lang="en-US" sz="10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Optimises sum of squared residuals (OLS)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4114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9D8F"/>
                </a:solidFill>
              </a:rPr>
              <a:t>Library: sklearn.linear_model.LinearRegression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164592" cy="4206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777240"/>
            <a:ext cx="395020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47488" y="8686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</a:rPr>
              <a:t>Decision Tree Regressor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7488" y="11704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76F51"/>
                </a:solidFill>
              </a:rPr>
              <a:t>Comparison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47488" y="150876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Captures non-linear patterns using recursive binary splits</a:t>
            </a:r>
            <a:endParaRPr lang="en-US" sz="10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Splits on MSE criterion; handles non-linearity natively</a:t>
            </a:r>
            <a:endParaRPr lang="en-US" sz="10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 feature scaling required — LabelEncoder used for </a:t>
            </a:r>
            <a:r>
              <a:rPr lang="en-US" sz="1050" dirty="0" err="1">
                <a:solidFill>
                  <a:srgbClr val="1E293B"/>
                </a:solidFill>
              </a:rPr>
              <a:t>categoricals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47488" y="4114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6F51"/>
                </a:solidFill>
              </a:rPr>
              <a:t>Library: sklearn.tree.DecisionTreeRegressor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18F1-D1B3-1B9C-E35F-9CA4BF83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6476CF-A324-77E5-D2DB-0B480CF9BE78}"/>
              </a:ext>
            </a:extLst>
          </p:cNvPr>
          <p:cNvSpPr/>
          <p:nvPr/>
        </p:nvSpPr>
        <p:spPr>
          <a:xfrm>
            <a:off x="457200" y="1083212"/>
            <a:ext cx="8229600" cy="37209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AC4839E-223A-0333-2EEE-AA1CBBF26E6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AB2E33-034E-20AE-4EBC-98F9A54B1609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chemeClr val="bg1"/>
                </a:solidFill>
              </a:rPr>
              <a:t>Graph of Linear and Decision Tree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9139A9-60A8-4EBC-7215-20C749DCDEED}"/>
              </a:ext>
            </a:extLst>
          </p:cNvPr>
          <p:cNvSpPr/>
          <p:nvPr/>
        </p:nvSpPr>
        <p:spPr>
          <a:xfrm>
            <a:off x="548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771BA1-E171-749B-C708-B48E73678C2E}"/>
              </a:ext>
            </a:extLst>
          </p:cNvPr>
          <p:cNvSpPr/>
          <p:nvPr/>
        </p:nvSpPr>
        <p:spPr>
          <a:xfrm>
            <a:off x="5120640" y="1234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A0D1F-D332-B130-1F99-0D23AD26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6" y="1301415"/>
            <a:ext cx="7011008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</a:t>
            </a:r>
            <a:endParaRPr lang="en-US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77B8CA-C9EF-5715-3C07-A3A5EB99D7D7}"/>
              </a:ext>
            </a:extLst>
          </p:cNvPr>
          <p:cNvSpPr txBox="1"/>
          <p:nvPr/>
        </p:nvSpPr>
        <p:spPr>
          <a:xfrm>
            <a:off x="5929532" y="1559264"/>
            <a:ext cx="303158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100" b="0" i="0" dirty="0">
                <a:solidFill>
                  <a:srgbClr val="FFFFFF"/>
                </a:solidFill>
                <a:effectLst/>
                <a:latin typeface="menlo"/>
              </a:rPr>
              <a:t>R</a:t>
            </a:r>
            <a:r>
              <a:rPr lang="en-IN" sz="900" dirty="0"/>
              <a:t>[1] TRAIN ACCURACY</a:t>
            </a:r>
          </a:p>
          <a:p>
            <a:pPr latinLnBrk="1"/>
            <a:r>
              <a:rPr lang="en-IN" sz="900" dirty="0"/>
              <a:t>    Accuracy % : 94.25%</a:t>
            </a:r>
          </a:p>
          <a:p>
            <a:pPr latinLnBrk="1"/>
            <a:r>
              <a:rPr lang="en-IN" sz="900" dirty="0"/>
              <a:t>    R² Score   : 0.9199</a:t>
            </a:r>
          </a:p>
          <a:p>
            <a:pPr latinLnBrk="1"/>
            <a:r>
              <a:rPr lang="en-IN" sz="900" dirty="0"/>
              <a:t>    MAE        : 0.2434</a:t>
            </a:r>
          </a:p>
          <a:p>
            <a:pPr latinLnBrk="1"/>
            <a:r>
              <a:rPr lang="en-IN" sz="900" dirty="0"/>
              <a:t>    RMSE       : 0.3041</a:t>
            </a:r>
          </a:p>
          <a:p>
            <a:pPr latinLnBrk="1"/>
            <a:endParaRPr lang="en-IN" sz="900" dirty="0"/>
          </a:p>
          <a:p>
            <a:pPr latinLnBrk="1"/>
            <a:r>
              <a:rPr lang="en-IN" sz="900" dirty="0"/>
              <a:t>[2] TEST ACCURACY</a:t>
            </a:r>
          </a:p>
          <a:p>
            <a:pPr latinLnBrk="1"/>
            <a:r>
              <a:rPr lang="en-IN" sz="900" dirty="0"/>
              <a:t>    Accuracy % : 93.70%</a:t>
            </a:r>
          </a:p>
          <a:p>
            <a:pPr latinLnBrk="1"/>
            <a:r>
              <a:rPr lang="en-IN" sz="900" dirty="0"/>
              <a:t>    R² Score   : 0.8978</a:t>
            </a:r>
          </a:p>
          <a:p>
            <a:pPr latinLnBrk="1"/>
            <a:r>
              <a:rPr lang="en-IN" sz="900" dirty="0"/>
              <a:t>    MAE        : 0.2658</a:t>
            </a:r>
          </a:p>
          <a:p>
            <a:pPr latinLnBrk="1"/>
            <a:r>
              <a:rPr lang="en-IN" sz="900" dirty="0"/>
              <a:t>    RMSE       :</a:t>
            </a:r>
            <a:r>
              <a:rPr lang="en-IN" dirty="0"/>
              <a:t> </a:t>
            </a:r>
            <a:r>
              <a:rPr lang="en-IN" sz="1000" dirty="0"/>
              <a:t>0.3354</a:t>
            </a:r>
            <a:endParaRPr lang="en-IN" dirty="0"/>
          </a:p>
          <a:p>
            <a:pPr latinLnBrk="1"/>
            <a:endParaRPr lang="en-IN" sz="900" dirty="0"/>
          </a:p>
          <a:p>
            <a:pPr latinLnBrk="1"/>
            <a:endParaRPr lang="en-IN" sz="900" dirty="0"/>
          </a:p>
          <a:p>
            <a:pPr latinLnBrk="1"/>
            <a:r>
              <a:rPr lang="en-IN" sz="900" dirty="0"/>
              <a:t>[3] OVERFITTING GAP (Train minus Test)</a:t>
            </a:r>
          </a:p>
          <a:p>
            <a:pPr latinLnBrk="1"/>
            <a:r>
              <a:rPr lang="en-IN" sz="900" dirty="0"/>
              <a:t>    Accuracy Gap : 0.55%</a:t>
            </a:r>
          </a:p>
          <a:p>
            <a:pPr latinLnBrk="1"/>
            <a:r>
              <a:rPr lang="en-IN" sz="900" dirty="0"/>
              <a:t>    R² Gap       : 0.0221</a:t>
            </a:r>
          </a:p>
          <a:p>
            <a:pPr algn="l" latinLnBrk="1">
              <a:buNone/>
            </a:pPr>
            <a:r>
              <a:rPr lang="en-IN" sz="1100" b="0" i="0" dirty="0">
                <a:solidFill>
                  <a:srgbClr val="FFFFFF"/>
                </a:solidFill>
                <a:effectLst/>
                <a:latin typeface="menlo"/>
              </a:rPr>
              <a:t>²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D3D6A70-A1EC-4496-3D97-1349A898D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0820"/>
            <a:ext cx="5507502" cy="27653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8D04D-6BE9-0CD0-B8FC-AC82BE31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C8494F-3EA6-48A1-C9DE-F2AAE358749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690E34-77B9-372B-819A-550EEEC86934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A8BF0-3804-1D9B-47B0-1E08BFB92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14" y="1313170"/>
            <a:ext cx="3434508" cy="2891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1E7272-3990-F95F-0968-42305B749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965" y="1312923"/>
            <a:ext cx="3516921" cy="28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33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631B-7B74-9A2C-737C-C043B9D7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B72891-4D35-3711-3A8A-81CBE506D0A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6F5F0C-71C8-0FAA-337D-568099DE0F13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8C4560-7C88-89F2-8FBD-4B13883E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" y="723107"/>
            <a:ext cx="8975188" cy="1910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DB3E04-F121-0739-C8CB-8C35CE9BE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6" y="2995723"/>
            <a:ext cx="9144000" cy="18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85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18C3A-9A4C-A347-EA08-59F8747B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EBD9F5-9642-7B63-E408-7503EB1C592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4C73B3-7F93-80D2-27F0-DF3ADBD9F8B4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5F7C0-2205-1BC7-B80B-8F9F8729F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77867"/>
            <a:ext cx="8975188" cy="1784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DC47B1-AE41-63A4-355B-579CD8DE40A8}"/>
              </a:ext>
            </a:extLst>
          </p:cNvPr>
          <p:cNvSpPr txBox="1"/>
          <p:nvPr/>
        </p:nvSpPr>
        <p:spPr>
          <a:xfrm>
            <a:off x="1033975" y="2881414"/>
            <a:ext cx="67707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Before Feature scaling we were getting Train Accuracy of approx. 80</a:t>
            </a:r>
          </a:p>
          <a:p>
            <a:r>
              <a:rPr lang="en-IN" dirty="0"/>
              <a:t>And test accuracy of Approx 79.5</a:t>
            </a:r>
          </a:p>
          <a:p>
            <a:r>
              <a:rPr lang="en-IN" dirty="0"/>
              <a:t>But now train accuracy jumped to 94.25% and test accuracy to 93.70%</a:t>
            </a:r>
          </a:p>
          <a:p>
            <a:r>
              <a:rPr lang="en-IN" dirty="0"/>
              <a:t>This is a huge </a:t>
            </a:r>
            <a:r>
              <a:rPr lang="en-IN" dirty="0" err="1"/>
              <a:t>improvment</a:t>
            </a:r>
            <a:r>
              <a:rPr lang="en-IN" dirty="0"/>
              <a:t>/.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BB8C2CF-296E-97FB-3747-BAEC6A7500D4}"/>
              </a:ext>
            </a:extLst>
          </p:cNvPr>
          <p:cNvSpPr/>
          <p:nvPr/>
        </p:nvSpPr>
        <p:spPr>
          <a:xfrm>
            <a:off x="215591" y="1085384"/>
            <a:ext cx="8712820" cy="395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Findings</a:t>
            </a:r>
            <a:endParaRPr lang="en-US" sz="2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395B48-ED1B-2D5D-62B5-7F3FF032F7A1}"/>
              </a:ext>
            </a:extLst>
          </p:cNvPr>
          <p:cNvSpPr txBox="1"/>
          <p:nvPr/>
        </p:nvSpPr>
        <p:spPr>
          <a:xfrm>
            <a:off x="884663" y="1085384"/>
            <a:ext cx="73746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Advanced Ensemble Architecture: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 The new model uses a highly effective "Stacking Regressor" approach. It combines predictions from three diverse base algorithms (Linear Regression, Decision Tree, and a Backpropagation Neural Network/MLP) and uses an 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XG Boost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 meta-model to learn how to optimally combine them.</a:t>
            </a:r>
          </a:p>
          <a:p>
            <a:pPr>
              <a:buFont typeface="+mj-lt"/>
              <a:buAutoNum type="arabicPeriod"/>
            </a:pP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High Predictive Accuracy: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 The model achieved an impressive 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93.70% Accuracy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 on unseen test data, with an </a:t>
            </a:r>
            <a:r>
              <a:rPr lang="en-IN" sz="1600" dirty="0">
                <a:solidFill>
                  <a:schemeClr val="bg1"/>
                </a:solidFill>
              </a:rPr>
              <a:t>R²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 score of 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0.8977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. This is a massive improvement over baseline guessing (which had an </a:t>
            </a:r>
            <a:r>
              <a:rPr lang="en-IN" sz="1600" dirty="0">
                <a:solidFill>
                  <a:schemeClr val="bg1"/>
                </a:solidFill>
              </a:rPr>
              <a:t>R² 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around 0).</a:t>
            </a:r>
          </a:p>
          <a:p>
            <a:pPr algn="l">
              <a:buFont typeface="+mj-lt"/>
              <a:buAutoNum type="arabicPeriod"/>
            </a:pP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Extremely Low Overfitting: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 The model generalizes incredibly well. The gap between training accuracy (94.25%) and testing accuracy (93.70%) is only 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0.55%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, showing that it learned the underlying patterns rather than just memorizing the training data.</a:t>
            </a:r>
          </a:p>
          <a:p>
            <a:pPr algn="l">
              <a:buFont typeface="+mj-lt"/>
              <a:buAutoNum type="arabicPeriod"/>
            </a:pP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Tight Error Margins: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 The Mean Absolute Error (MAE) on the test set is 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Segoe WPC"/>
              </a:rPr>
              <a:t>0.2659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Segoe WPC"/>
              </a:rPr>
              <a:t>. This means that, on average, the model's stress level predictions are only about a quarter of a point off from the actual reported stress levels.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2999" y="1005840"/>
            <a:ext cx="8889752" cy="38709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548640" y="1188720"/>
            <a:ext cx="7976839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The advanced </a:t>
            </a:r>
            <a:r>
              <a:rPr lang="en-IN" sz="1400" b="1" dirty="0"/>
              <a:t>Stacking Regressor ensemble</a:t>
            </a:r>
            <a:r>
              <a:rPr lang="en-IN" sz="1400" dirty="0"/>
              <a:t> (combining Linear Regression, Decision Trees, and Neural Networks via an XG Boost meta-model) significantly outperforms previous models, achieving an R²</a:t>
            </a:r>
            <a:r>
              <a:rPr lang="en-IN" sz="1400" b="1" dirty="0"/>
              <a:t> of 0.898</a:t>
            </a:r>
            <a:r>
              <a:rPr lang="en-IN" sz="1400" dirty="0"/>
              <a:t> (up from 0.810) and </a:t>
            </a:r>
            <a:r>
              <a:rPr lang="en-IN" sz="1400" b="1" dirty="0"/>
              <a:t>93.7% accuracy</a:t>
            </a:r>
            <a:r>
              <a:rPr lang="en-IN" sz="1400" dirty="0"/>
              <a:t>, firmly validating the hypothesis that digital habits measurably impact mental well-being.</a:t>
            </a:r>
          </a:p>
          <a:p>
            <a:r>
              <a:rPr lang="en-IN" sz="1400" dirty="0"/>
              <a:t>The stacking architecture proved to be the superior approach for this dataset, successfully capturing complex, non-linear interactions (such as the newly engineered Screen-to-Sleep ratio) while keeping overfitting extremely low (only a 0.55% train-test gap).</a:t>
            </a:r>
          </a:p>
          <a:p>
            <a:r>
              <a:rPr lang="en-IN" sz="1400" dirty="0"/>
              <a:t>Sleep duration, daily screen time, and lifestyle interactions remain the most critical predictive features — highlighting that optimizing the balance between digital consumption and rest is the highest-leverage intervention for reducing stress.</a:t>
            </a:r>
          </a:p>
          <a:p>
            <a:r>
              <a:rPr lang="en-IN" sz="1400" dirty="0"/>
              <a:t>Given its high accuracy and robustness, this stacked model is highly suitable for integration into wellness apps or workplace health programs to provide highly reliable, real-time stress risk scores without requiring clinical testing.</a:t>
            </a:r>
          </a:p>
          <a:p>
            <a:r>
              <a:rPr lang="en-IN" sz="1400" b="1" dirty="0"/>
              <a:t>Future work:</a:t>
            </a:r>
            <a:r>
              <a:rPr lang="en-IN" sz="1400" dirty="0"/>
              <a:t> Deploy the model via a live API for real-world mobile app integration, incorporate longitudinal user data to track stress trends over time, and extend the model to multi-class classification for identifying specific sleep disorders.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Sustainable Development Goals</a:t>
            </a:r>
          </a:p>
        </p:txBody>
      </p:sp>
      <p:sp>
        <p:nvSpPr>
          <p:cNvPr id="4" name="SubtitleBg"/>
          <p:cNvSpPr/>
          <p:nvPr/>
        </p:nvSpPr>
        <p:spPr>
          <a:xfrm>
            <a:off x="0" y="914400"/>
            <a:ext cx="9144000" cy="365760"/>
          </a:xfrm>
          <a:prstGeom prst="rect">
            <a:avLst/>
          </a:prstGeom>
          <a:solidFill>
            <a:srgbClr val="E8F0F8"/>
          </a:solidFill>
          <a:ln w="0">
            <a:noFill/>
          </a:ln>
        </p:spPr>
      </p:sp>
      <p:sp>
        <p:nvSpPr>
          <p:cNvPr id="5" name="SubtitleTxt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400" b="0" i="1" dirty="0">
                <a:solidFill>
                  <a:srgbClr val="1A2E4A"/>
                </a:solidFill>
              </a:rPr>
              <a:t>How Sleep Sense Aligns with the United Nations Sustainable Development Goals</a:t>
            </a:r>
          </a:p>
        </p:txBody>
      </p:sp>
      <p:sp>
        <p:nvSpPr>
          <p:cNvPr id="6" name="SDG3CardBg"/>
          <p:cNvSpPr/>
          <p:nvPr/>
        </p:nvSpPr>
        <p:spPr>
          <a:xfrm>
            <a:off x="548640" y="1417320"/>
            <a:ext cx="2651760" cy="34061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9F38"/>
            </a:solidFill>
          </a:ln>
          <a:effectLst>
            <a:outerShdw blurRad="101600" dist="38100" dir="54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7" name="SDG3Header"/>
          <p:cNvSpPr/>
          <p:nvPr/>
        </p:nvSpPr>
        <p:spPr>
          <a:xfrm>
            <a:off x="548640" y="1417320"/>
            <a:ext cx="2651760" cy="685800"/>
          </a:xfrm>
          <a:prstGeom prst="rect">
            <a:avLst/>
          </a:prstGeom>
          <a:solidFill>
            <a:srgbClr val="4C9F38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DG3Num"/>
          <p:cNvSpPr/>
          <p:nvPr/>
        </p:nvSpPr>
        <p:spPr>
          <a:xfrm>
            <a:off x="54864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91440" tIns="45720" rIns="0" bIns="0" rtlCol="0" anchor="ctr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SDG3Title"/>
          <p:cNvSpPr/>
          <p:nvPr/>
        </p:nvSpPr>
        <p:spPr>
          <a:xfrm>
            <a:off x="731520" y="2148840"/>
            <a:ext cx="228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en-US" sz="1400" b="1" dirty="0">
                <a:solidFill>
                  <a:srgbClr val="4C9F38"/>
                </a:solidFill>
              </a:rPr>
              <a:t>Good Health &amp; Well-being</a:t>
            </a:r>
          </a:p>
        </p:txBody>
      </p:sp>
      <p:sp>
        <p:nvSpPr>
          <p:cNvPr id="10" name="SDG3Body"/>
          <p:cNvSpPr/>
          <p:nvPr/>
        </p:nvSpPr>
        <p:spPr>
          <a:xfrm>
            <a:off x="731520" y="2559960"/>
            <a:ext cx="2285280" cy="217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●"/>
            </a:pPr>
            <a:r>
              <a:rPr lang="en-US" sz="1050" dirty="0">
                <a:solidFill>
                  <a:srgbClr val="1E293B"/>
                </a:solidFill>
              </a:rPr>
              <a:t>Predicts stress levels and sleep quality using everyday lifestyle data</a:t>
            </a:r>
          </a:p>
          <a:p>
            <a:pPr marL="0" indent="0" algn="l">
              <a:buNone/>
            </a:pPr>
            <a:r>
              <a:rPr lang="en-US" sz="300" dirty="0"/>
              <a:t> </a:t>
            </a:r>
          </a:p>
          <a:p>
            <a:pPr marL="228600" indent="-228600" algn="l">
              <a:buChar char="●"/>
            </a:pPr>
            <a:r>
              <a:rPr lang="en-US" sz="1050" dirty="0">
                <a:solidFill>
                  <a:srgbClr val="1E293B"/>
                </a:solidFill>
              </a:rPr>
              <a:t>Promotes mental health awareness by quantifying stress from sleep and screen habits</a:t>
            </a:r>
          </a:p>
          <a:p>
            <a:pPr marL="0" indent="0" algn="l">
              <a:buNone/>
            </a:pPr>
            <a:r>
              <a:rPr lang="en-US" sz="300" dirty="0"/>
              <a:t> </a:t>
            </a:r>
          </a:p>
          <a:p>
            <a:pPr marL="228600" indent="-228600" algn="l">
              <a:buChar char="●"/>
            </a:pPr>
            <a:r>
              <a:rPr lang="en-US" sz="1050" dirty="0">
                <a:solidFill>
                  <a:srgbClr val="1E293B"/>
                </a:solidFill>
              </a:rPr>
              <a:t>Supports early detection of harmful sleep deprivation and high-stress patterns</a:t>
            </a:r>
          </a:p>
          <a:p>
            <a:pPr marL="0" indent="0" algn="l">
              <a:buNone/>
            </a:pPr>
            <a:r>
              <a:rPr lang="en-US" sz="300" dirty="0"/>
              <a:t> </a:t>
            </a:r>
          </a:p>
          <a:p>
            <a:pPr marL="228600" indent="-228600" algn="l">
              <a:buChar char="●"/>
            </a:pPr>
            <a:r>
              <a:rPr lang="en-US" sz="1050" dirty="0">
                <a:solidFill>
                  <a:srgbClr val="1E293B"/>
                </a:solidFill>
              </a:rPr>
              <a:t>Encourages healthier digital habits and workplace wellness programs</a:t>
            </a:r>
          </a:p>
        </p:txBody>
      </p:sp>
      <p:sp>
        <p:nvSpPr>
          <p:cNvPr id="21" name="SDG3CardBg">
            <a:extLst>
              <a:ext uri="{FF2B5EF4-FFF2-40B4-BE49-F238E27FC236}">
                <a16:creationId xmlns:a16="http://schemas.microsoft.com/office/drawing/2014/main" id="{2684A182-B64E-5330-F0DD-C6E6226FCC6B}"/>
              </a:ext>
            </a:extLst>
          </p:cNvPr>
          <p:cNvSpPr/>
          <p:nvPr/>
        </p:nvSpPr>
        <p:spPr>
          <a:xfrm>
            <a:off x="3824068" y="1417320"/>
            <a:ext cx="2651760" cy="34061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9F38"/>
            </a:solidFill>
          </a:ln>
          <a:effectLst>
            <a:outerShdw blurRad="101600" dist="381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228600" indent="-228600">
              <a:buChar char="●"/>
            </a:pPr>
            <a:r>
              <a:rPr lang="en-US" sz="1100" dirty="0">
                <a:solidFill>
                  <a:srgbClr val="1E293B"/>
                </a:solidFill>
              </a:rPr>
              <a:t>Predicts stress levels and sleep quality using everyday lifestyle data</a:t>
            </a:r>
          </a:p>
          <a:p>
            <a:r>
              <a:rPr lang="en-US" sz="400" dirty="0"/>
              <a:t> </a:t>
            </a:r>
          </a:p>
          <a:p>
            <a:pPr marL="228600" indent="-228600">
              <a:buChar char="●"/>
            </a:pPr>
            <a:r>
              <a:rPr lang="en-US" sz="1100" dirty="0">
                <a:solidFill>
                  <a:srgbClr val="1E293B"/>
                </a:solidFill>
              </a:rPr>
              <a:t>Promotes mental health awareness by</a:t>
            </a:r>
          </a:p>
          <a:p>
            <a:pPr marL="228600" indent="-228600">
              <a:buChar char="●"/>
            </a:pPr>
            <a:endParaRPr lang="en-US" sz="1100" dirty="0">
              <a:solidFill>
                <a:srgbClr val="1E29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By 2030, reduce by one third premature mortality from non-communicable diseases through prevention and treatment and promote mental health and well-being.</a:t>
            </a:r>
          </a:p>
          <a:p>
            <a:r>
              <a:rPr lang="en-IN" sz="1100" dirty="0"/>
              <a:t>How does our model map to this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it predicts stress,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 </a:t>
            </a:r>
            <a:r>
              <a:rPr lang="en-IN" sz="1100" dirty="0" err="1"/>
              <a:t>analyzes</a:t>
            </a:r>
            <a:r>
              <a:rPr lang="en-IN" sz="1100" dirty="0"/>
              <a:t> sleep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encourages healthier lifestyle habits.</a:t>
            </a:r>
          </a:p>
        </p:txBody>
      </p:sp>
      <p:sp>
        <p:nvSpPr>
          <p:cNvPr id="22" name="SDG3Header">
            <a:extLst>
              <a:ext uri="{FF2B5EF4-FFF2-40B4-BE49-F238E27FC236}">
                <a16:creationId xmlns:a16="http://schemas.microsoft.com/office/drawing/2014/main" id="{24BC7AD4-12CE-DB18-6E00-AC0F3CD684D0}"/>
              </a:ext>
            </a:extLst>
          </p:cNvPr>
          <p:cNvSpPr/>
          <p:nvPr/>
        </p:nvSpPr>
        <p:spPr>
          <a:xfrm>
            <a:off x="3824068" y="1417320"/>
            <a:ext cx="2651760" cy="685800"/>
          </a:xfrm>
          <a:prstGeom prst="rect">
            <a:avLst/>
          </a:prstGeom>
          <a:solidFill>
            <a:srgbClr val="4C9F38"/>
          </a:solidFill>
          <a:ln w="0">
            <a:noFill/>
          </a:ln>
        </p:spPr>
        <p:txBody>
          <a:bodyPr/>
          <a:lstStyle/>
          <a:p>
            <a:r>
              <a:rPr lang="en-US" sz="3600" b="1" dirty="0">
                <a:solidFill>
                  <a:srgbClr val="FFFFFF"/>
                </a:solidFill>
              </a:rPr>
              <a:t>3.4</a:t>
            </a:r>
            <a:endParaRPr lang="en-IN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</a:rPr>
              <a:t>Dataset: Mobile Usage &amp; Sleep Stress (15,000 records) — Kaggle. Available: https://www.kaggle.com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</a:rPr>
              <a:t>Scikit-learn: Machine Learning in Python. Pedregosa et al., JMLR 12, pp. 2825-2830, 2011. https://scikit-learn.org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</a:rPr>
              <a:t>Walker, M. (2017). Why We Sleep: Unlocking the Power of Sleep and Dreams. Scribner.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</a:rPr>
              <a:t>American Psychological Association. (2022). Stress in America: Disconnected in the Digital Age. APA Press.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</a:rPr>
              <a:t>Twenge, J.M. et al. (2018). Associations between screen time and lower psychological well-being among children and adolescents. Preventive Medicine Reports, 12, 271-283.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</a:rPr>
              <a:t>NumPy, Pandas, Matplotlib — Python scientific computing libraries. https://numpy.org | https://pandas.pydata.org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hape 0">
            <a:extLst>
              <a:ext uri="{FF2B5EF4-FFF2-40B4-BE49-F238E27FC236}">
                <a16:creationId xmlns:a16="http://schemas.microsoft.com/office/drawing/2014/main" id="{4A733420-80FE-B4BC-29D2-49B6F9438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E2E5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1" name="Shape 1">
            <a:extLst>
              <a:ext uri="{FF2B5EF4-FFF2-40B4-BE49-F238E27FC236}">
                <a16:creationId xmlns:a16="http://schemas.microsoft.com/office/drawing/2014/main" id="{5745213B-9DF0-2E2B-3B81-30D851E73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E5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2" name="Shape 2">
            <a:extLst>
              <a:ext uri="{FF2B5EF4-FFF2-40B4-BE49-F238E27FC236}">
                <a16:creationId xmlns:a16="http://schemas.microsoft.com/office/drawing/2014/main" id="{22DBC538-D10B-AD32-7E85-4F8524E26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E5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3" name="Shape 3">
            <a:extLst>
              <a:ext uri="{FF2B5EF4-FFF2-40B4-BE49-F238E27FC236}">
                <a16:creationId xmlns:a16="http://schemas.microsoft.com/office/drawing/2014/main" id="{493885CE-2D95-1601-E6FA-6BDF04D15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736725"/>
            <a:ext cx="9144000" cy="0"/>
          </a:xfrm>
          <a:prstGeom prst="line">
            <a:avLst/>
          </a:prstGeom>
          <a:noFill/>
          <a:ln w="6350">
            <a:solidFill>
              <a:srgbClr val="1E2E5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4" name="Shape 4">
            <a:extLst>
              <a:ext uri="{FF2B5EF4-FFF2-40B4-BE49-F238E27FC236}">
                <a16:creationId xmlns:a16="http://schemas.microsoft.com/office/drawing/2014/main" id="{E5A964E6-872F-9AD3-F8EA-E30D9CF0B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75038"/>
            <a:ext cx="9144000" cy="0"/>
          </a:xfrm>
          <a:prstGeom prst="line">
            <a:avLst/>
          </a:prstGeom>
          <a:noFill/>
          <a:ln w="6350">
            <a:solidFill>
              <a:srgbClr val="1E2E5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5" name="Shape 5">
            <a:extLst>
              <a:ext uri="{FF2B5EF4-FFF2-40B4-BE49-F238E27FC236}">
                <a16:creationId xmlns:a16="http://schemas.microsoft.com/office/drawing/2014/main" id="{165CBAE7-536E-10E3-E439-0101C6DAF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55588"/>
            <a:ext cx="365125" cy="0"/>
          </a:xfrm>
          <a:prstGeom prst="line">
            <a:avLst/>
          </a:prstGeom>
          <a:noFill/>
          <a:ln w="25400">
            <a:solidFill>
              <a:srgbClr val="3D8C7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6" name="Shape 6">
            <a:extLst>
              <a:ext uri="{FF2B5EF4-FFF2-40B4-BE49-F238E27FC236}">
                <a16:creationId xmlns:a16="http://schemas.microsoft.com/office/drawing/2014/main" id="{3C54B414-BAE7-2F40-D609-CC175EB0D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55588"/>
            <a:ext cx="0" cy="320675"/>
          </a:xfrm>
          <a:prstGeom prst="line">
            <a:avLst/>
          </a:prstGeom>
          <a:noFill/>
          <a:ln w="25400">
            <a:solidFill>
              <a:srgbClr val="3D8C7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7" name="Shape 7">
            <a:extLst>
              <a:ext uri="{FF2B5EF4-FFF2-40B4-BE49-F238E27FC236}">
                <a16:creationId xmlns:a16="http://schemas.microsoft.com/office/drawing/2014/main" id="{A8EBA1BB-F628-344C-6029-35DAB7E74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0275" y="4846638"/>
            <a:ext cx="365125" cy="0"/>
          </a:xfrm>
          <a:prstGeom prst="line">
            <a:avLst/>
          </a:prstGeom>
          <a:noFill/>
          <a:ln w="25400">
            <a:solidFill>
              <a:srgbClr val="3D8C7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8" name="Shape 8">
            <a:extLst>
              <a:ext uri="{FF2B5EF4-FFF2-40B4-BE49-F238E27FC236}">
                <a16:creationId xmlns:a16="http://schemas.microsoft.com/office/drawing/2014/main" id="{77891E2E-09D0-8991-E881-B9C87DAB8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4572000"/>
            <a:ext cx="0" cy="274638"/>
          </a:xfrm>
          <a:prstGeom prst="line">
            <a:avLst/>
          </a:prstGeom>
          <a:noFill/>
          <a:ln w="25400">
            <a:solidFill>
              <a:srgbClr val="3D8C7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39" name="Shape 9">
            <a:extLst>
              <a:ext uri="{FF2B5EF4-FFF2-40B4-BE49-F238E27FC236}">
                <a16:creationId xmlns:a16="http://schemas.microsoft.com/office/drawing/2014/main" id="{4F37F9D7-7B65-99A1-6F3D-91D8FEB82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417638"/>
            <a:ext cx="5486400" cy="1004887"/>
          </a:xfrm>
          <a:prstGeom prst="rect">
            <a:avLst/>
          </a:prstGeom>
          <a:solidFill>
            <a:srgbClr val="1A2845"/>
          </a:solidFill>
          <a:ln w="12700">
            <a:solidFill>
              <a:srgbClr val="446655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40" name="Text 10">
            <a:extLst>
              <a:ext uri="{FF2B5EF4-FFF2-40B4-BE49-F238E27FC236}">
                <a16:creationId xmlns:a16="http://schemas.microsoft.com/office/drawing/2014/main" id="{CAB9D39F-DC25-C717-8408-DA81C55D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435100"/>
            <a:ext cx="5394325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THANK YOU</a:t>
            </a:r>
            <a:endParaRPr kumimoji="0" lang="en-US" alt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41" name="Shape 11">
            <a:extLst>
              <a:ext uri="{FF2B5EF4-FFF2-40B4-BE49-F238E27FC236}">
                <a16:creationId xmlns:a16="http://schemas.microsoft.com/office/drawing/2014/main" id="{84044F28-94F0-CBA4-9C2E-B80B52BE8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27" y="2533650"/>
            <a:ext cx="2989381" cy="384175"/>
          </a:xfrm>
          <a:prstGeom prst="rect">
            <a:avLst/>
          </a:prstGeom>
          <a:solidFill>
            <a:srgbClr val="112036"/>
          </a:solidFill>
          <a:ln w="12700">
            <a:solidFill>
              <a:srgbClr val="3D8C78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schemeClr val="bg1"/>
                </a:solidFill>
              </a:rPr>
              <a:t>	Sleep Sense</a:t>
            </a:r>
            <a:endParaRPr lang="en-US" sz="20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20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42" name="Text 12">
            <a:extLst>
              <a:ext uri="{FF2B5EF4-FFF2-40B4-BE49-F238E27FC236}">
                <a16:creationId xmlns:a16="http://schemas.microsoft.com/office/drawing/2014/main" id="{3E340791-C1E8-FA05-7B2B-AF756D6FA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2551113"/>
            <a:ext cx="44799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43" name="Shape 13">
            <a:extLst>
              <a:ext uri="{FF2B5EF4-FFF2-40B4-BE49-F238E27FC236}">
                <a16:creationId xmlns:a16="http://schemas.microsoft.com/office/drawing/2014/main" id="{D0DFD7ED-0C2E-DB9A-9047-737315C15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035300"/>
            <a:ext cx="5486400" cy="0"/>
          </a:xfrm>
          <a:prstGeom prst="line">
            <a:avLst/>
          </a:prstGeom>
          <a:noFill/>
          <a:ln w="12700">
            <a:solidFill>
              <a:srgbClr val="3D8C7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8144" name="Text 14">
            <a:extLst>
              <a:ext uri="{FF2B5EF4-FFF2-40B4-BE49-F238E27FC236}">
                <a16:creationId xmlns:a16="http://schemas.microsoft.com/office/drawing/2014/main" id="{BAEDD4AA-37C2-8515-0EC2-468484620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163888"/>
            <a:ext cx="64008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ABBA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Team B2-2  |  KLE Technological University  |  2025-26</a:t>
            </a: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C2FF591-233A-3D39-8466-9639719F4F15}"/>
              </a:ext>
            </a:extLst>
          </p:cNvPr>
          <p:cNvSpPr/>
          <p:nvPr/>
        </p:nvSpPr>
        <p:spPr>
          <a:xfrm>
            <a:off x="1371600" y="3548063"/>
            <a:ext cx="6400800" cy="25558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Pranav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Chougule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·  Manthan Raykar  ·  </a:t>
            </a:r>
            <a:r>
              <a:rPr lang="en-US" sz="1050" dirty="0">
                <a:solidFill>
                  <a:srgbClr val="CCCCCC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Ayush Kumar Ojha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C876FF-462D-88F7-99E3-7BF836332F3B}"/>
              </a:ext>
            </a:extLst>
          </p:cNvPr>
          <p:cNvSpPr/>
          <p:nvPr/>
        </p:nvSpPr>
        <p:spPr>
          <a:xfrm>
            <a:off x="1371600" y="3840163"/>
            <a:ext cx="6400800" cy="25558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147" name="Shape 17">
            <a:extLst>
              <a:ext uri="{FF2B5EF4-FFF2-40B4-BE49-F238E27FC236}">
                <a16:creationId xmlns:a16="http://schemas.microsoft.com/office/drawing/2014/main" id="{37D87860-1EC7-8AE3-3635-A0D71D682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19650"/>
            <a:ext cx="9144000" cy="323850"/>
          </a:xfrm>
          <a:prstGeom prst="rect">
            <a:avLst/>
          </a:prstGeom>
          <a:solidFill>
            <a:srgbClr val="3D8C78"/>
          </a:solidFill>
          <a:ln w="12700">
            <a:solidFill>
              <a:srgbClr val="3D8C7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DBB2067-3AF7-6785-D732-141849A26C36}"/>
              </a:ext>
            </a:extLst>
          </p:cNvPr>
          <p:cNvSpPr/>
          <p:nvPr/>
        </p:nvSpPr>
        <p:spPr>
          <a:xfrm>
            <a:off x="0" y="4822825"/>
            <a:ext cx="9144000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B.E. Computer Science &amp; Engineering  |  KLE Technological University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2344</Words>
  <Application>Microsoft Office PowerPoint</Application>
  <PresentationFormat>On-screen Show (16:9)</PresentationFormat>
  <Paragraphs>320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Georgia</vt:lpstr>
      <vt:lpstr>menlo</vt:lpstr>
      <vt:lpstr>Segoe WPC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Disorder Detection - ML Project</dc:title>
  <dc:subject>PptxGenJS Presentation</dc:subject>
  <dc:creator>PptxGenJS</dc:creator>
  <cp:lastModifiedBy>Ayush Kumar</cp:lastModifiedBy>
  <cp:revision>7</cp:revision>
  <dcterms:created xsi:type="dcterms:W3CDTF">2026-04-30T10:33:15Z</dcterms:created>
  <dcterms:modified xsi:type="dcterms:W3CDTF">2026-06-03T19:21:41Z</dcterms:modified>
</cp:coreProperties>
</file>